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9cf3160a-1a97-30b0-c80d-47d37eb60e86}">
          <p14:sldIdLst>
            <p14:sldId id="256"/>
          </p14:sldIdLst>
        </p14:section>
        <p14:section name="Solution" id="{2a303f2c-1eec-2d7b-b2cd-0bca3d76bb7e}">
          <p14:sldIdLst>
            <p14:sldId id="257"/>
          </p14:sldIdLst>
        </p14:section>
        <p14:section name="Features" id="{1467536e-40c5-b288-2a51-f18e0ff970af}">
          <p14:sldIdLst>
            <p14:sldId id="258"/>
          </p14:sldIdLst>
        </p14:section>
        <p14:section name="Architecture" id="{950b963d-5bba-467c-7741-f7a801a7249c}">
          <p14:sldIdLst>
            <p14:sldId id="259"/>
          </p14:sldIdLst>
        </p14:section>
        <p14:section name="Impact" id="{4dc688f2-bcb6-39c5-fa61-7dccc9530f45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pain. Today a broken fan is reported in a WhatsApp group or a paper register. The message scrolls away, five students report the same fan, and nobody ever hears back. Three problems: lost complaints, duplicates, and no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answer is one simple loop. A student reports an issue. If it already exists we warn them and they upvote instead. Everyone can track the status and the timeline. Staff change the status and leave a note, so the student sees exactly what was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cards quickly, then show the screenshot. The duplicate warning is the key idea: while typing a title, similar open issues in the same category and building are shown, and the student can upvote instead. Extras: dark mode, mobile layout and role-based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layers. The React frontend talks to an Express API. Every request goes through a login check, a role check and validation before it reaches PostgreSQL. 13 endpoints, 2 roles, 5 tables. The two screenshots are the required demonstrations: an empty title is rejected with a clear 400 message, and a student who tries to change a status gets 403. The full endpoint table is in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value. Students finally see what happened to their report. Staff get one list sorted by urgency and hotspot data. The campus gets fewer duplicate complaints. Next steps: notifications, QR codes per location, and maintenance trends. Finish with the live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C4D9"/>
                </a:solidFill>
              </a:rPr>
              <a:t>FixMyCampus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6C4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ITL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FixMyCampus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6C4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Campus problems get lost in group chats</a:t>
            </a:r>
            <a:endParaRPr lang="en-US" sz="3200" dirty="0"/>
          </a:p>
        </p:txBody>
      </p:sp>
      <p:sp>
        <p:nvSpPr>
          <p:cNvPr id="3" name="Intro"/>
          <p:cNvSpPr txBox="1"/>
          <p:nvPr/>
        </p:nvSpPr>
        <p:spPr>
          <a:xfrm>
            <a:off x="457200" y="10972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6C4D9"/>
                </a:solidFill>
              </a:rPr>
              <a:t>Broken fans, leaking taps, dead street lights, dirty washrooms. Students report them on WhatsApp groups and paper registers, and that is where the trouble starts.</a:t>
            </a:r>
            <a:endParaRPr lang="en-US" sz="1500" dirty="0"/>
          </a:p>
        </p:txBody>
      </p:sp>
      <p:sp>
        <p:nvSpPr>
          <p:cNvPr id="4" name="Problem card 1"/>
          <p:cNvSpPr/>
          <p:nvPr/>
        </p:nvSpPr>
        <p:spPr>
          <a:xfrm>
            <a:off x="457200" y="196596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 w="12700">
            <a:solidFill>
              <a:srgbClr val="2B3C5A"/>
            </a:solidFill>
            <a:prstDash val="solid"/>
          </a:ln>
        </p:spPr>
      </p:sp>
      <p:sp>
        <p:nvSpPr>
          <p:cNvPr id="5" name="Problem 1 circle"/>
          <p:cNvSpPr/>
          <p:nvPr/>
        </p:nvSpPr>
        <p:spPr>
          <a:xfrm>
            <a:off x="731520" y="2240280"/>
            <a:ext cx="640080" cy="64008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6" name="Image 0" descr="Problem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406701"/>
            <a:ext cx="307238" cy="307238"/>
          </a:xfrm>
          <a:prstGeom prst="rect">
            <a:avLst/>
          </a:prstGeom>
        </p:spPr>
      </p:pic>
      <p:sp>
        <p:nvSpPr>
          <p:cNvPr id="7" name="Problem title 1"/>
          <p:cNvSpPr txBox="1"/>
          <p:nvPr/>
        </p:nvSpPr>
        <p:spPr>
          <a:xfrm>
            <a:off x="731520" y="30175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Complaints get lost</a:t>
            </a:r>
            <a:endParaRPr lang="en-US" sz="1800" dirty="0"/>
          </a:p>
        </p:txBody>
      </p:sp>
      <p:sp>
        <p:nvSpPr>
          <p:cNvPr id="8" name="Problem text 1"/>
          <p:cNvSpPr txBox="1"/>
          <p:nvPr/>
        </p:nvSpPr>
        <p:spPr>
          <a:xfrm>
            <a:off x="731520" y="3703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6C4D9"/>
                </a:solidFill>
              </a:rPr>
              <a:t>Messages scroll away and paper registers are never read.</a:t>
            </a:r>
            <a:endParaRPr lang="en-US" sz="1300" dirty="0"/>
          </a:p>
        </p:txBody>
      </p:sp>
      <p:sp>
        <p:nvSpPr>
          <p:cNvPr id="9" name="Problem card 2"/>
          <p:cNvSpPr/>
          <p:nvPr/>
        </p:nvSpPr>
        <p:spPr>
          <a:xfrm>
            <a:off x="3337560" y="196596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 w="12700">
            <a:solidFill>
              <a:srgbClr val="2B3C5A"/>
            </a:solidFill>
            <a:prstDash val="solid"/>
          </a:ln>
        </p:spPr>
      </p:sp>
      <p:sp>
        <p:nvSpPr>
          <p:cNvPr id="10" name="Problem 2 circle"/>
          <p:cNvSpPr/>
          <p:nvPr/>
        </p:nvSpPr>
        <p:spPr>
          <a:xfrm>
            <a:off x="3611880" y="2240280"/>
            <a:ext cx="640080" cy="64008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1" name="Image 1" descr="Problem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301" y="2406701"/>
            <a:ext cx="307238" cy="307238"/>
          </a:xfrm>
          <a:prstGeom prst="rect">
            <a:avLst/>
          </a:prstGeom>
        </p:spPr>
      </p:pic>
      <p:sp>
        <p:nvSpPr>
          <p:cNvPr id="12" name="Problem title 2"/>
          <p:cNvSpPr txBox="1"/>
          <p:nvPr/>
        </p:nvSpPr>
        <p:spPr>
          <a:xfrm>
            <a:off x="3611880" y="30175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Same issue, many reports</a:t>
            </a:r>
            <a:endParaRPr lang="en-US" sz="1800" dirty="0"/>
          </a:p>
        </p:txBody>
      </p:sp>
      <p:sp>
        <p:nvSpPr>
          <p:cNvPr id="13" name="Problem text 2"/>
          <p:cNvSpPr txBox="1"/>
          <p:nvPr/>
        </p:nvSpPr>
        <p:spPr>
          <a:xfrm>
            <a:off x="3611880" y="3703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6C4D9"/>
                </a:solidFill>
              </a:rPr>
              <a:t>Nobody can see what has already been reported.</a:t>
            </a:r>
            <a:endParaRPr lang="en-US" sz="1300" dirty="0"/>
          </a:p>
        </p:txBody>
      </p:sp>
      <p:sp>
        <p:nvSpPr>
          <p:cNvPr id="14" name="Problem card 3"/>
          <p:cNvSpPr/>
          <p:nvPr/>
        </p:nvSpPr>
        <p:spPr>
          <a:xfrm>
            <a:off x="6217920" y="196596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 w="12700">
            <a:solidFill>
              <a:srgbClr val="2B3C5A"/>
            </a:solidFill>
            <a:prstDash val="solid"/>
          </a:ln>
        </p:spPr>
      </p:sp>
      <p:sp>
        <p:nvSpPr>
          <p:cNvPr id="15" name="Problem 3 circle"/>
          <p:cNvSpPr/>
          <p:nvPr/>
        </p:nvSpPr>
        <p:spPr>
          <a:xfrm>
            <a:off x="6492240" y="2240280"/>
            <a:ext cx="640080" cy="64008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6" name="Image 2" descr="Problem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1" y="2406701"/>
            <a:ext cx="307238" cy="307238"/>
          </a:xfrm>
          <a:prstGeom prst="rect">
            <a:avLst/>
          </a:prstGeom>
        </p:spPr>
      </p:pic>
      <p:sp>
        <p:nvSpPr>
          <p:cNvPr id="17" name="Problem title 3"/>
          <p:cNvSpPr txBox="1"/>
          <p:nvPr/>
        </p:nvSpPr>
        <p:spPr>
          <a:xfrm>
            <a:off x="6492240" y="30175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Nobody knows what happened</a:t>
            </a:r>
            <a:endParaRPr lang="en-US" sz="1800" dirty="0"/>
          </a:p>
        </p:txBody>
      </p:sp>
      <p:sp>
        <p:nvSpPr>
          <p:cNvPr id="18" name="Problem text 3"/>
          <p:cNvSpPr txBox="1"/>
          <p:nvPr/>
        </p:nvSpPr>
        <p:spPr>
          <a:xfrm>
            <a:off x="6492240" y="3703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6C4D9"/>
                </a:solidFill>
              </a:rPr>
              <a:t>Students never learn whether any action was taken.</a:t>
            </a:r>
            <a:endParaRPr lang="en-US" sz="1300" dirty="0"/>
          </a:p>
        </p:txBody>
      </p:sp>
      <p:sp>
        <p:nvSpPr>
          <p:cNvPr id="19" name="Team"/>
          <p:cNvSpPr txBox="1"/>
          <p:nvPr/>
        </p:nvSpPr>
        <p:spPr>
          <a:xfrm>
            <a:off x="310896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6C4D9"/>
                </a:solidFill>
              </a:rPr>
              <a:t>Team: Noushin Anamika Urmee, Arina Afrin, Tanjim Hasan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6C4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Report it. Upvote it. Track it. Fix it.</a:t>
            </a:r>
            <a:endParaRPr lang="en-US" sz="3200" dirty="0"/>
          </a:p>
        </p:txBody>
      </p:sp>
      <p:sp>
        <p:nvSpPr>
          <p:cNvPr id="3" name="Step 1 circle"/>
          <p:cNvSpPr/>
          <p:nvPr/>
        </p:nvSpPr>
        <p:spPr>
          <a:xfrm>
            <a:off x="457200" y="1298448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4" name="Image 0" descr="Ste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1445849"/>
            <a:ext cx="272125" cy="272125"/>
          </a:xfrm>
          <a:prstGeom prst="rect">
            <a:avLst/>
          </a:prstGeom>
        </p:spPr>
      </p:pic>
      <p:sp>
        <p:nvSpPr>
          <p:cNvPr id="5" name="Step title 1"/>
          <p:cNvSpPr txBox="1"/>
          <p:nvPr/>
        </p:nvSpPr>
        <p:spPr>
          <a:xfrm>
            <a:off x="118872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</a:t>
            </a:r>
            <a:endParaRPr lang="en-US" sz="1600" dirty="0"/>
          </a:p>
        </p:txBody>
      </p:sp>
      <p:sp>
        <p:nvSpPr>
          <p:cNvPr id="6" name="Step text 1"/>
          <p:cNvSpPr txBox="1"/>
          <p:nvPr/>
        </p:nvSpPr>
        <p:spPr>
          <a:xfrm>
            <a:off x="1188720" y="146304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Title, category, location and an optional photo. A duplicate warning shows similar open issues.</a:t>
            </a:r>
            <a:endParaRPr lang="en-US" sz="1200" dirty="0"/>
          </a:p>
        </p:txBody>
      </p:sp>
      <p:sp>
        <p:nvSpPr>
          <p:cNvPr id="7" name="Step 2 circle"/>
          <p:cNvSpPr/>
          <p:nvPr/>
        </p:nvSpPr>
        <p:spPr>
          <a:xfrm>
            <a:off x="457200" y="2185416"/>
            <a:ext cx="566928" cy="56692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8" name="Image 1" descr="Ste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01" y="2332817"/>
            <a:ext cx="272125" cy="272125"/>
          </a:xfrm>
          <a:prstGeom prst="rect">
            <a:avLst/>
          </a:prstGeom>
        </p:spPr>
      </p:pic>
      <p:sp>
        <p:nvSpPr>
          <p:cNvPr id="9" name="Step title 2"/>
          <p:cNvSpPr txBox="1"/>
          <p:nvPr/>
        </p:nvSpPr>
        <p:spPr>
          <a:xfrm>
            <a:off x="1188720" y="2075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Upvote</a:t>
            </a:r>
            <a:endParaRPr lang="en-US" sz="1600" dirty="0"/>
          </a:p>
        </p:txBody>
      </p:sp>
      <p:sp>
        <p:nvSpPr>
          <p:cNvPr id="10" name="Step text 2"/>
          <p:cNvSpPr txBox="1"/>
          <p:nvPr/>
        </p:nvSpPr>
        <p:spPr>
          <a:xfrm>
            <a:off x="1188720" y="235000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One vote per student. The most urgent issues rise to the top.</a:t>
            </a:r>
            <a:endParaRPr lang="en-US" sz="1200" dirty="0"/>
          </a:p>
        </p:txBody>
      </p:sp>
      <p:sp>
        <p:nvSpPr>
          <p:cNvPr id="11" name="Step 3 circle"/>
          <p:cNvSpPr/>
          <p:nvPr/>
        </p:nvSpPr>
        <p:spPr>
          <a:xfrm>
            <a:off x="457200" y="3072384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2" name="Image 2" descr="Ste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3219785"/>
            <a:ext cx="272125" cy="272125"/>
          </a:xfrm>
          <a:prstGeom prst="rect">
            <a:avLst/>
          </a:prstGeom>
        </p:spPr>
      </p:pic>
      <p:sp>
        <p:nvSpPr>
          <p:cNvPr id="13" name="Step title 3"/>
          <p:cNvSpPr txBox="1"/>
          <p:nvPr/>
        </p:nvSpPr>
        <p:spPr>
          <a:xfrm>
            <a:off x="1188720" y="2962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Track</a:t>
            </a:r>
            <a:endParaRPr lang="en-US" sz="1600" dirty="0"/>
          </a:p>
        </p:txBody>
      </p:sp>
      <p:sp>
        <p:nvSpPr>
          <p:cNvPr id="14" name="Step text 3"/>
          <p:cNvSpPr txBox="1"/>
          <p:nvPr/>
        </p:nvSpPr>
        <p:spPr>
          <a:xfrm>
            <a:off x="1188720" y="323697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Open, In Progress or Resolved, with a full timeline and comments.</a:t>
            </a:r>
            <a:endParaRPr lang="en-US" sz="1200" dirty="0"/>
          </a:p>
        </p:txBody>
      </p:sp>
      <p:sp>
        <p:nvSpPr>
          <p:cNvPr id="15" name="Step 4 circle"/>
          <p:cNvSpPr/>
          <p:nvPr/>
        </p:nvSpPr>
        <p:spPr>
          <a:xfrm>
            <a:off x="457200" y="3959352"/>
            <a:ext cx="566928" cy="56692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6" name="Image 3" descr="Step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01" y="4106753"/>
            <a:ext cx="272125" cy="272125"/>
          </a:xfrm>
          <a:prstGeom prst="rect">
            <a:avLst/>
          </a:prstGeom>
        </p:spPr>
      </p:pic>
      <p:sp>
        <p:nvSpPr>
          <p:cNvPr id="17" name="Step title 4"/>
          <p:cNvSpPr txBox="1"/>
          <p:nvPr/>
        </p:nvSpPr>
        <p:spPr>
          <a:xfrm>
            <a:off x="1188720" y="38496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Resolve</a:t>
            </a:r>
            <a:endParaRPr lang="en-US" sz="1600" dirty="0"/>
          </a:p>
        </p:txBody>
      </p:sp>
      <p:sp>
        <p:nvSpPr>
          <p:cNvPr id="18" name="Step text 4"/>
          <p:cNvSpPr txBox="1"/>
          <p:nvPr/>
        </p:nvSpPr>
        <p:spPr>
          <a:xfrm>
            <a:off x="1188720" y="412394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Staff update the status with a note, so students see what was done.</a:t>
            </a:r>
            <a:endParaRPr lang="en-US" sz="1200" dirty="0"/>
          </a:p>
        </p:txBody>
      </p:sp>
      <p:pic>
        <p:nvPicPr>
          <p:cNvPr id="19" name="Issue list screenshot" descr="Issue list screensh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188720"/>
            <a:ext cx="3657600" cy="2185416"/>
          </a:xfrm>
          <a:prstGeom prst="rect">
            <a:avLst/>
          </a:prstGeom>
        </p:spPr>
      </p:pic>
      <p:sp>
        <p:nvSpPr>
          <p:cNvPr id="20" name="Issue list screenshot border"/>
          <p:cNvSpPr/>
          <p:nvPr/>
        </p:nvSpPr>
        <p:spPr>
          <a:xfrm>
            <a:off x="5029200" y="1188720"/>
            <a:ext cx="3657600" cy="2185416"/>
          </a:xfrm>
          <a:prstGeom prst="rect">
            <a:avLst/>
          </a:prstGeom>
          <a:ln w="12700">
            <a:solidFill>
              <a:srgbClr val="C3CCDA"/>
            </a:solidFill>
            <a:prstDash val="solid"/>
          </a:ln>
        </p:spPr>
      </p:sp>
      <p:sp>
        <p:nvSpPr>
          <p:cNvPr id="21" name="High chip"/>
          <p:cNvSpPr/>
          <p:nvPr/>
        </p:nvSpPr>
        <p:spPr>
          <a:xfrm>
            <a:off x="5029200" y="3611880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2" name="High label"/>
          <p:cNvSpPr txBox="1"/>
          <p:nvPr/>
        </p:nvSpPr>
        <p:spPr>
          <a:xfrm>
            <a:off x="5029200" y="361188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High: 5+ votes</a:t>
            </a:r>
            <a:endParaRPr lang="en-US" sz="1100" dirty="0"/>
          </a:p>
        </p:txBody>
      </p:sp>
      <p:sp>
        <p:nvSpPr>
          <p:cNvPr id="23" name="Medium chip"/>
          <p:cNvSpPr/>
          <p:nvPr/>
        </p:nvSpPr>
        <p:spPr>
          <a:xfrm>
            <a:off x="6281928" y="3611880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24" name="Medium label"/>
          <p:cNvSpPr txBox="1"/>
          <p:nvPr/>
        </p:nvSpPr>
        <p:spPr>
          <a:xfrm>
            <a:off x="6281928" y="361188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Medium: 3-4</a:t>
            </a:r>
            <a:endParaRPr lang="en-US" sz="1100" dirty="0"/>
          </a:p>
        </p:txBody>
      </p:sp>
      <p:sp>
        <p:nvSpPr>
          <p:cNvPr id="25" name="Low chip"/>
          <p:cNvSpPr/>
          <p:nvPr/>
        </p:nvSpPr>
        <p:spPr>
          <a:xfrm>
            <a:off x="7534656" y="3611880"/>
            <a:ext cx="1152144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6" name="Low label"/>
          <p:cNvSpPr txBox="1"/>
          <p:nvPr/>
        </p:nvSpPr>
        <p:spPr>
          <a:xfrm>
            <a:off x="7534656" y="361188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Low: 0-2</a:t>
            </a:r>
            <a:endParaRPr lang="en-US" sz="1100" dirty="0"/>
          </a:p>
        </p:txBody>
      </p:sp>
      <p:sp>
        <p:nvSpPr>
          <p:cNvPr id="27" name="Priority note"/>
          <p:cNvSpPr txBox="1"/>
          <p:nvPr/>
        </p:nvSpPr>
        <p:spPr>
          <a:xfrm>
            <a:off x="502920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Priority is computed from upvotes, so nobody can label their own issue High.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Everything students and staff need</a:t>
            </a:r>
            <a:endParaRPr lang="en-US" sz="3200" dirty="0"/>
          </a:p>
        </p:txBody>
      </p:sp>
      <p:sp>
        <p:nvSpPr>
          <p:cNvPr id="3" name="Feature 1 circle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4" name="Image 0" descr="Fea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052" y="1334292"/>
            <a:ext cx="184343" cy="184343"/>
          </a:xfrm>
          <a:prstGeom prst="rect">
            <a:avLst/>
          </a:prstGeom>
        </p:spPr>
      </p:pic>
      <p:sp>
        <p:nvSpPr>
          <p:cNvPr id="5" name="Feature title 1"/>
          <p:cNvSpPr txBox="1"/>
          <p:nvPr/>
        </p:nvSpPr>
        <p:spPr>
          <a:xfrm>
            <a:off x="1005840" y="12070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Report with a photo</a:t>
            </a:r>
            <a:endParaRPr lang="en-US" sz="1300" dirty="0"/>
          </a:p>
        </p:txBody>
      </p:sp>
      <p:sp>
        <p:nvSpPr>
          <p:cNvPr id="6" name="Feature text 1"/>
          <p:cNvSpPr txBox="1"/>
          <p:nvPr/>
        </p:nvSpPr>
        <p:spPr>
          <a:xfrm>
            <a:off x="1005840" y="14447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Category, location and an optional photo</a:t>
            </a:r>
            <a:endParaRPr lang="en-US" sz="1100" dirty="0"/>
          </a:p>
        </p:txBody>
      </p:sp>
      <p:sp>
        <p:nvSpPr>
          <p:cNvPr id="7" name="Feature 2 circle"/>
          <p:cNvSpPr/>
          <p:nvPr/>
        </p:nvSpPr>
        <p:spPr>
          <a:xfrm>
            <a:off x="457200" y="1764792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8" name="Image 1" descr="Featur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52" y="1864644"/>
            <a:ext cx="184343" cy="184343"/>
          </a:xfrm>
          <a:prstGeom prst="rect">
            <a:avLst/>
          </a:prstGeom>
        </p:spPr>
      </p:pic>
      <p:sp>
        <p:nvSpPr>
          <p:cNvPr id="9" name="Feature title 2"/>
          <p:cNvSpPr txBox="1"/>
          <p:nvPr/>
        </p:nvSpPr>
        <p:spPr>
          <a:xfrm>
            <a:off x="1005840" y="17373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Search and filter</a:t>
            </a:r>
            <a:endParaRPr lang="en-US" sz="1300" dirty="0"/>
          </a:p>
        </p:txBody>
      </p:sp>
      <p:sp>
        <p:nvSpPr>
          <p:cNvPr id="10" name="Feature text 2"/>
          <p:cNvSpPr txBox="1"/>
          <p:nvPr/>
        </p:nvSpPr>
        <p:spPr>
          <a:xfrm>
            <a:off x="1005840" y="19751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Category, status, location, sort and pages</a:t>
            </a:r>
            <a:endParaRPr lang="en-US" sz="1100" dirty="0"/>
          </a:p>
        </p:txBody>
      </p:sp>
      <p:sp>
        <p:nvSpPr>
          <p:cNvPr id="11" name="Feature 3 circle"/>
          <p:cNvSpPr/>
          <p:nvPr/>
        </p:nvSpPr>
        <p:spPr>
          <a:xfrm>
            <a:off x="457200" y="229514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2" name="Image 2" descr="Featur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2" y="2394996"/>
            <a:ext cx="184343" cy="184343"/>
          </a:xfrm>
          <a:prstGeom prst="rect">
            <a:avLst/>
          </a:prstGeom>
        </p:spPr>
      </p:pic>
      <p:sp>
        <p:nvSpPr>
          <p:cNvPr id="13" name="Feature title 3"/>
          <p:cNvSpPr txBox="1"/>
          <p:nvPr/>
        </p:nvSpPr>
        <p:spPr>
          <a:xfrm>
            <a:off x="1005840" y="22677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Upvote</a:t>
            </a:r>
            <a:endParaRPr lang="en-US" sz="1300" dirty="0"/>
          </a:p>
        </p:txBody>
      </p:sp>
      <p:sp>
        <p:nvSpPr>
          <p:cNvPr id="14" name="Feature text 3"/>
          <p:cNvSpPr txBox="1"/>
          <p:nvPr/>
        </p:nvSpPr>
        <p:spPr>
          <a:xfrm>
            <a:off x="1005840" y="25054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One vote per user, urgent issues rise</a:t>
            </a:r>
            <a:endParaRPr lang="en-US" sz="1100" dirty="0"/>
          </a:p>
        </p:txBody>
      </p:sp>
      <p:sp>
        <p:nvSpPr>
          <p:cNvPr id="15" name="Feature 4 circle"/>
          <p:cNvSpPr/>
          <p:nvPr/>
        </p:nvSpPr>
        <p:spPr>
          <a:xfrm>
            <a:off x="457200" y="2825496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6" name="Image 3" descr="Featur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52" y="2925348"/>
            <a:ext cx="184343" cy="184343"/>
          </a:xfrm>
          <a:prstGeom prst="rect">
            <a:avLst/>
          </a:prstGeom>
        </p:spPr>
      </p:pic>
      <p:sp>
        <p:nvSpPr>
          <p:cNvPr id="17" name="Feature title 4"/>
          <p:cNvSpPr txBox="1"/>
          <p:nvPr/>
        </p:nvSpPr>
        <p:spPr>
          <a:xfrm>
            <a:off x="1005840" y="27980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Comments and timeline</a:t>
            </a:r>
            <a:endParaRPr lang="en-US" sz="1300" dirty="0"/>
          </a:p>
        </p:txBody>
      </p:sp>
      <p:sp>
        <p:nvSpPr>
          <p:cNvPr id="18" name="Feature text 4"/>
          <p:cNvSpPr txBox="1"/>
          <p:nvPr/>
        </p:nvSpPr>
        <p:spPr>
          <a:xfrm>
            <a:off x="1005840" y="30358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Official staff replies and status history</a:t>
            </a:r>
            <a:endParaRPr lang="en-US" sz="1100" dirty="0"/>
          </a:p>
        </p:txBody>
      </p:sp>
      <p:sp>
        <p:nvSpPr>
          <p:cNvPr id="19" name="Feature 5 circle"/>
          <p:cNvSpPr/>
          <p:nvPr/>
        </p:nvSpPr>
        <p:spPr>
          <a:xfrm>
            <a:off x="457200" y="3355848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0" name="Image 4" descr="Feature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052" y="3455700"/>
            <a:ext cx="184343" cy="184343"/>
          </a:xfrm>
          <a:prstGeom prst="rect">
            <a:avLst/>
          </a:prstGeom>
        </p:spPr>
      </p:pic>
      <p:sp>
        <p:nvSpPr>
          <p:cNvPr id="21" name="Feature title 5"/>
          <p:cNvSpPr txBox="1"/>
          <p:nvPr/>
        </p:nvSpPr>
        <p:spPr>
          <a:xfrm>
            <a:off x="1005840" y="33284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Dashboards</a:t>
            </a:r>
            <a:endParaRPr lang="en-US" sz="1300" dirty="0"/>
          </a:p>
        </p:txBody>
      </p:sp>
      <p:sp>
        <p:nvSpPr>
          <p:cNvPr id="22" name="Feature text 5"/>
          <p:cNvSpPr txBox="1"/>
          <p:nvPr/>
        </p:nvSpPr>
        <p:spPr>
          <a:xfrm>
            <a:off x="1005840" y="35661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My Reports for students, stats for admins</a:t>
            </a:r>
            <a:endParaRPr lang="en-US" sz="1100" dirty="0"/>
          </a:p>
        </p:txBody>
      </p:sp>
      <p:sp>
        <p:nvSpPr>
          <p:cNvPr id="23" name="Feature 6 circle"/>
          <p:cNvSpPr/>
          <p:nvPr/>
        </p:nvSpPr>
        <p:spPr>
          <a:xfrm>
            <a:off x="457200" y="3886200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24" name="Image 5" descr="Feature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052" y="3986052"/>
            <a:ext cx="184343" cy="184343"/>
          </a:xfrm>
          <a:prstGeom prst="rect">
            <a:avLst/>
          </a:prstGeom>
        </p:spPr>
      </p:pic>
      <p:sp>
        <p:nvSpPr>
          <p:cNvPr id="25" name="Feature title 6"/>
          <p:cNvSpPr txBox="1"/>
          <p:nvPr/>
        </p:nvSpPr>
        <p:spPr>
          <a:xfrm>
            <a:off x="1005840" y="38587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Duplicate and priority</a:t>
            </a:r>
            <a:endParaRPr lang="en-US" sz="1300" dirty="0"/>
          </a:p>
        </p:txBody>
      </p:sp>
      <p:sp>
        <p:nvSpPr>
          <p:cNvPr id="26" name="Feature text 6"/>
          <p:cNvSpPr txBox="1"/>
          <p:nvPr/>
        </p:nvSpPr>
        <p:spPr>
          <a:xfrm>
            <a:off x="1005840" y="40965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Similar-issue warning and priority labels</a:t>
            </a:r>
            <a:endParaRPr lang="en-US" sz="1100" dirty="0"/>
          </a:p>
        </p:txBody>
      </p:sp>
      <p:sp>
        <p:nvSpPr>
          <p:cNvPr id="27" name="Extras"/>
          <p:cNvSpPr txBox="1"/>
          <p:nvPr/>
        </p:nvSpPr>
        <p:spPr>
          <a:xfrm>
            <a:off x="457200" y="44074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Also: dark mode, mobile layout, role-based access</a:t>
            </a:r>
            <a:endParaRPr lang="en-US" sz="1100" dirty="0"/>
          </a:p>
        </p:txBody>
      </p:sp>
      <p:pic>
        <p:nvPicPr>
          <p:cNvPr id="28" name="Report page with duplicate warning screenshot" descr="Report page with duplicate warning screensho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1188720"/>
            <a:ext cx="3977640" cy="3282696"/>
          </a:xfrm>
          <a:prstGeom prst="rect">
            <a:avLst/>
          </a:prstGeom>
        </p:spPr>
      </p:pic>
      <p:sp>
        <p:nvSpPr>
          <p:cNvPr id="29" name="Report page with duplicate warning screenshot border"/>
          <p:cNvSpPr/>
          <p:nvPr/>
        </p:nvSpPr>
        <p:spPr>
          <a:xfrm>
            <a:off x="4709160" y="1188720"/>
            <a:ext cx="3977640" cy="3282696"/>
          </a:xfrm>
          <a:prstGeom prst="rect">
            <a:avLst/>
          </a:prstGeom>
          <a:ln w="12700">
            <a:solidFill>
              <a:srgbClr val="C3CCD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API and architecture</a:t>
            </a:r>
            <a:endParaRPr lang="en-US" sz="3200" dirty="0"/>
          </a:p>
        </p:txBody>
      </p:sp>
      <p:sp>
        <p:nvSpPr>
          <p:cNvPr id="3" name="Architecture box 1"/>
          <p:cNvSpPr/>
          <p:nvPr/>
        </p:nvSpPr>
        <p:spPr>
          <a:xfrm>
            <a:off x="457200" y="1143000"/>
            <a:ext cx="26060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Architecture 1 circle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Image 0" descr="Archite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345" y="1524305"/>
            <a:ext cx="197510" cy="197510"/>
          </a:xfrm>
          <a:prstGeom prst="rect">
            <a:avLst/>
          </a:prstGeom>
        </p:spPr>
      </p:pic>
      <p:sp>
        <p:nvSpPr>
          <p:cNvPr id="6" name="Box title 1"/>
          <p:cNvSpPr txBox="1"/>
          <p:nvPr/>
        </p:nvSpPr>
        <p:spPr>
          <a:xfrm>
            <a:off x="1115568" y="1234440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React frontend</a:t>
            </a:r>
            <a:endParaRPr lang="en-US" sz="1300" dirty="0"/>
          </a:p>
        </p:txBody>
      </p:sp>
      <p:sp>
        <p:nvSpPr>
          <p:cNvPr id="7" name="Box text 1"/>
          <p:cNvSpPr txBox="1"/>
          <p:nvPr/>
        </p:nvSpPr>
        <p:spPr>
          <a:xfrm>
            <a:off x="1115568" y="1490472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Hosted web app. Login, issue list, report form, dashboards</a:t>
            </a:r>
            <a:endParaRPr lang="en-US" sz="1050" dirty="0"/>
          </a:p>
        </p:txBody>
      </p:sp>
      <p:sp>
        <p:nvSpPr>
          <p:cNvPr id="8" name="Arrow 1"/>
          <p:cNvSpPr/>
          <p:nvPr/>
        </p:nvSpPr>
        <p:spPr>
          <a:xfrm>
            <a:off x="3081528" y="1623060"/>
            <a:ext cx="1691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Architecture box 2"/>
          <p:cNvSpPr/>
          <p:nvPr/>
        </p:nvSpPr>
        <p:spPr>
          <a:xfrm>
            <a:off x="3268980" y="1143000"/>
            <a:ext cx="26060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Architecture 2 circle"/>
          <p:cNvSpPr/>
          <p:nvPr/>
        </p:nvSpPr>
        <p:spPr>
          <a:xfrm>
            <a:off x="3406140" y="1417320"/>
            <a:ext cx="411480" cy="41148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1" name="Image 1" descr="Architectur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125" y="1524305"/>
            <a:ext cx="197510" cy="197510"/>
          </a:xfrm>
          <a:prstGeom prst="rect">
            <a:avLst/>
          </a:prstGeom>
        </p:spPr>
      </p:pic>
      <p:sp>
        <p:nvSpPr>
          <p:cNvPr id="12" name="Box title 2"/>
          <p:cNvSpPr txBox="1"/>
          <p:nvPr/>
        </p:nvSpPr>
        <p:spPr>
          <a:xfrm>
            <a:off x="3927348" y="1234440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Express API</a:t>
            </a:r>
            <a:endParaRPr lang="en-US" sz="1300" dirty="0"/>
          </a:p>
        </p:txBody>
      </p:sp>
      <p:sp>
        <p:nvSpPr>
          <p:cNvPr id="13" name="Box text 2"/>
          <p:cNvSpPr txBox="1"/>
          <p:nvPr/>
        </p:nvSpPr>
        <p:spPr>
          <a:xfrm>
            <a:off x="3927348" y="1490472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Render. JWT login check, role check, zod validation</a:t>
            </a:r>
            <a:endParaRPr lang="en-US" sz="1050" dirty="0"/>
          </a:p>
        </p:txBody>
      </p:sp>
      <p:sp>
        <p:nvSpPr>
          <p:cNvPr id="14" name="Arrow 2"/>
          <p:cNvSpPr/>
          <p:nvPr/>
        </p:nvSpPr>
        <p:spPr>
          <a:xfrm>
            <a:off x="5893308" y="1623060"/>
            <a:ext cx="1691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Architecture box 3"/>
          <p:cNvSpPr/>
          <p:nvPr/>
        </p:nvSpPr>
        <p:spPr>
          <a:xfrm>
            <a:off x="6080760" y="1143000"/>
            <a:ext cx="26060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Architecture 3 circle"/>
          <p:cNvSpPr/>
          <p:nvPr/>
        </p:nvSpPr>
        <p:spPr>
          <a:xfrm>
            <a:off x="6217920" y="141732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7" name="Image 2" descr="Architectur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905" y="1524305"/>
            <a:ext cx="197510" cy="197510"/>
          </a:xfrm>
          <a:prstGeom prst="rect">
            <a:avLst/>
          </a:prstGeom>
        </p:spPr>
      </p:pic>
      <p:sp>
        <p:nvSpPr>
          <p:cNvPr id="18" name="Box title 3"/>
          <p:cNvSpPr txBox="1"/>
          <p:nvPr/>
        </p:nvSpPr>
        <p:spPr>
          <a:xfrm>
            <a:off x="6739128" y="1234440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PostgreSQL</a:t>
            </a:r>
            <a:endParaRPr lang="en-US" sz="1300" dirty="0"/>
          </a:p>
        </p:txBody>
      </p:sp>
      <p:sp>
        <p:nvSpPr>
          <p:cNvPr id="19" name="Box text 3"/>
          <p:cNvSpPr txBox="1"/>
          <p:nvPr/>
        </p:nvSpPr>
        <p:spPr>
          <a:xfrm>
            <a:off x="6739128" y="1490472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Supabase. users, issues, comments, upvotes, status_history</a:t>
            </a:r>
            <a:endParaRPr lang="en-US" sz="1050" dirty="0"/>
          </a:p>
        </p:txBody>
      </p:sp>
      <p:sp>
        <p:nvSpPr>
          <p:cNvPr id="20" name="Endpoints chip"/>
          <p:cNvSpPr/>
          <p:nvPr/>
        </p:nvSpPr>
        <p:spPr>
          <a:xfrm>
            <a:off x="5120640" y="475488"/>
            <a:ext cx="10972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Endpoints label"/>
          <p:cNvSpPr txBox="1"/>
          <p:nvPr/>
        </p:nvSpPr>
        <p:spPr>
          <a:xfrm>
            <a:off x="5120640" y="4754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13 endpoints</a:t>
            </a:r>
            <a:endParaRPr lang="en-US" sz="1100" dirty="0"/>
          </a:p>
        </p:txBody>
      </p:sp>
      <p:sp>
        <p:nvSpPr>
          <p:cNvPr id="22" name="Roles chip"/>
          <p:cNvSpPr/>
          <p:nvPr/>
        </p:nvSpPr>
        <p:spPr>
          <a:xfrm>
            <a:off x="6309360" y="475488"/>
            <a:ext cx="10972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3" name="Roles label"/>
          <p:cNvSpPr txBox="1"/>
          <p:nvPr/>
        </p:nvSpPr>
        <p:spPr>
          <a:xfrm>
            <a:off x="6309360" y="4754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 roles</a:t>
            </a:r>
            <a:endParaRPr lang="en-US" sz="1100" dirty="0"/>
          </a:p>
        </p:txBody>
      </p:sp>
      <p:sp>
        <p:nvSpPr>
          <p:cNvPr id="24" name="Tables chip"/>
          <p:cNvSpPr/>
          <p:nvPr/>
        </p:nvSpPr>
        <p:spPr>
          <a:xfrm>
            <a:off x="7498080" y="475488"/>
            <a:ext cx="10972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5" name="Tables label"/>
          <p:cNvSpPr txBox="1"/>
          <p:nvPr/>
        </p:nvSpPr>
        <p:spPr>
          <a:xfrm>
            <a:off x="7498080" y="4754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 tables</a:t>
            </a:r>
            <a:endParaRPr lang="en-US" sz="1100" dirty="0"/>
          </a:p>
        </p:txBody>
      </p:sp>
      <p:sp>
        <p:nvSpPr>
          <p:cNvPr id="26" name="Caption 400"/>
          <p:cNvSpPr txBox="1"/>
          <p:nvPr/>
        </p:nvSpPr>
        <p:spPr>
          <a:xfrm>
            <a:off x="457200" y="22860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Validation: an empty title returns 400</a:t>
            </a:r>
            <a:endParaRPr lang="en-US" sz="1200" dirty="0"/>
          </a:p>
        </p:txBody>
      </p:sp>
      <p:sp>
        <p:nvSpPr>
          <p:cNvPr id="27" name="Caption 403"/>
          <p:cNvSpPr txBox="1"/>
          <p:nvPr/>
        </p:nvSpPr>
        <p:spPr>
          <a:xfrm>
            <a:off x="4846320" y="22860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Role check: a student changing status gets 403</a:t>
            </a:r>
            <a:endParaRPr lang="en-US" sz="1200" dirty="0"/>
          </a:p>
        </p:txBody>
      </p:sp>
      <p:pic>
        <p:nvPicPr>
          <p:cNvPr id="28" name="API screenshot: empty title 400" descr="API screenshot: empty title 400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60320"/>
            <a:ext cx="3840480" cy="2039112"/>
          </a:xfrm>
          <a:prstGeom prst="rect">
            <a:avLst/>
          </a:prstGeom>
        </p:spPr>
      </p:pic>
      <p:sp>
        <p:nvSpPr>
          <p:cNvPr id="29" name="API screenshot: empty title 400 border"/>
          <p:cNvSpPr/>
          <p:nvPr/>
        </p:nvSpPr>
        <p:spPr>
          <a:xfrm>
            <a:off x="457200" y="2560320"/>
            <a:ext cx="3840480" cy="2039112"/>
          </a:xfrm>
          <a:prstGeom prst="rect">
            <a:avLst/>
          </a:prstGeom>
          <a:ln w="12700">
            <a:solidFill>
              <a:srgbClr val="C3CCDA"/>
            </a:solidFill>
            <a:prstDash val="solid"/>
          </a:ln>
        </p:spPr>
      </p:sp>
      <p:pic>
        <p:nvPicPr>
          <p:cNvPr id="30" name="API screenshot: student status change 403" descr="API screenshot: student status change 40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560320"/>
            <a:ext cx="3840480" cy="1993392"/>
          </a:xfrm>
          <a:prstGeom prst="rect">
            <a:avLst/>
          </a:prstGeom>
        </p:spPr>
      </p:pic>
      <p:sp>
        <p:nvSpPr>
          <p:cNvPr id="31" name="API screenshot: student status change 403 border"/>
          <p:cNvSpPr/>
          <p:nvPr/>
        </p:nvSpPr>
        <p:spPr>
          <a:xfrm>
            <a:off x="4846320" y="2560320"/>
            <a:ext cx="3840480" cy="1993392"/>
          </a:xfrm>
          <a:prstGeom prst="rect">
            <a:avLst/>
          </a:prstGeom>
          <a:ln w="12700">
            <a:solidFill>
              <a:srgbClr val="C3CCD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Impact and what is next</a:t>
            </a:r>
            <a:endParaRPr lang="en-US" sz="3200" dirty="0"/>
          </a:p>
        </p:txBody>
      </p:sp>
      <p:sp>
        <p:nvSpPr>
          <p:cNvPr id="3" name="Impact 1 circle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4" name="Image 0" descr="Impact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365199"/>
            <a:ext cx="241402" cy="241402"/>
          </a:xfrm>
          <a:prstGeom prst="rect">
            <a:avLst/>
          </a:prstGeom>
        </p:spPr>
      </p:pic>
      <p:sp>
        <p:nvSpPr>
          <p:cNvPr id="5" name="Impact title 1"/>
          <p:cNvSpPr txBox="1"/>
          <p:nvPr/>
        </p:nvSpPr>
        <p:spPr>
          <a:xfrm>
            <a:off x="1143000" y="1188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Students</a:t>
            </a:r>
            <a:endParaRPr lang="en-US" sz="1500" dirty="0"/>
          </a:p>
        </p:txBody>
      </p:sp>
      <p:sp>
        <p:nvSpPr>
          <p:cNvPr id="6" name="Impact text 1"/>
          <p:cNvSpPr txBox="1"/>
          <p:nvPr/>
        </p:nvSpPr>
        <p:spPr>
          <a:xfrm>
            <a:off x="1143000" y="14447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6C4D9"/>
                </a:solidFill>
              </a:rPr>
              <a:t>See their report, the votes and what staff did.</a:t>
            </a:r>
            <a:endParaRPr lang="en-US" sz="1150" dirty="0"/>
          </a:p>
        </p:txBody>
      </p:sp>
      <p:sp>
        <p:nvSpPr>
          <p:cNvPr id="7" name="Impact 2 circle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8" name="Image 1" descr="Impact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142439"/>
            <a:ext cx="241402" cy="241402"/>
          </a:xfrm>
          <a:prstGeom prst="rect">
            <a:avLst/>
          </a:prstGeom>
        </p:spPr>
      </p:pic>
      <p:sp>
        <p:nvSpPr>
          <p:cNvPr id="9" name="Impact title 2"/>
          <p:cNvSpPr txBox="1"/>
          <p:nvPr/>
        </p:nvSpPr>
        <p:spPr>
          <a:xfrm>
            <a:off x="114300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Staff</a:t>
            </a:r>
            <a:endParaRPr lang="en-US" sz="1500" dirty="0"/>
          </a:p>
        </p:txBody>
      </p:sp>
      <p:sp>
        <p:nvSpPr>
          <p:cNvPr id="10" name="Impact text 2"/>
          <p:cNvSpPr txBox="1"/>
          <p:nvPr/>
        </p:nvSpPr>
        <p:spPr>
          <a:xfrm>
            <a:off x="1143000" y="22219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6C4D9"/>
                </a:solidFill>
              </a:rPr>
              <a:t>One list sorted by urgency, with hotspots and average resolution time.</a:t>
            </a:r>
            <a:endParaRPr lang="en-US" sz="1150" dirty="0"/>
          </a:p>
        </p:txBody>
      </p:sp>
      <p:sp>
        <p:nvSpPr>
          <p:cNvPr id="11" name="Impact 3 circle"/>
          <p:cNvSpPr/>
          <p:nvPr/>
        </p:nvSpPr>
        <p:spPr>
          <a:xfrm>
            <a:off x="457200" y="278892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2" name="Image 2" descr="Impact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2919679"/>
            <a:ext cx="241402" cy="241402"/>
          </a:xfrm>
          <a:prstGeom prst="rect">
            <a:avLst/>
          </a:prstGeom>
        </p:spPr>
      </p:pic>
      <p:sp>
        <p:nvSpPr>
          <p:cNvPr id="13" name="Impact title 3"/>
          <p:cNvSpPr txBox="1"/>
          <p:nvPr/>
        </p:nvSpPr>
        <p:spPr>
          <a:xfrm>
            <a:off x="1143000" y="2743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Campus</a:t>
            </a:r>
            <a:endParaRPr lang="en-US" sz="1500" dirty="0"/>
          </a:p>
        </p:txBody>
      </p:sp>
      <p:sp>
        <p:nvSpPr>
          <p:cNvPr id="14" name="Impact text 3"/>
          <p:cNvSpPr txBox="1"/>
          <p:nvPr/>
        </p:nvSpPr>
        <p:spPr>
          <a:xfrm>
            <a:off x="1143000" y="29992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6C4D9"/>
                </a:solidFill>
              </a:rPr>
              <a:t>Fewer duplicate complaints and a visible record of every fix.</a:t>
            </a:r>
            <a:endParaRPr lang="en-US" sz="1150" dirty="0"/>
          </a:p>
        </p:txBody>
      </p:sp>
      <p:pic>
        <p:nvPicPr>
          <p:cNvPr id="15" name="Admin dashboard screenshot" descr="Admin dashboard screensh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188720"/>
            <a:ext cx="4206240" cy="2386584"/>
          </a:xfrm>
          <a:prstGeom prst="rect">
            <a:avLst/>
          </a:prstGeom>
        </p:spPr>
      </p:pic>
      <p:sp>
        <p:nvSpPr>
          <p:cNvPr id="16" name="Admin dashboard screenshot border"/>
          <p:cNvSpPr/>
          <p:nvPr/>
        </p:nvSpPr>
        <p:spPr>
          <a:xfrm>
            <a:off x="4480560" y="1188720"/>
            <a:ext cx="4206240" cy="2386584"/>
          </a:xfrm>
          <a:prstGeom prst="rect">
            <a:avLst/>
          </a:prstGeom>
          <a:ln w="12700">
            <a:solidFill>
              <a:srgbClr val="2B3C5A"/>
            </a:solidFill>
            <a:prstDash val="solid"/>
          </a:ln>
        </p:spPr>
      </p:sp>
      <p:sp>
        <p:nvSpPr>
          <p:cNvPr id="17" name="Next label"/>
          <p:cNvSpPr txBox="1"/>
          <p:nvPr/>
        </p:nvSpPr>
        <p:spPr>
          <a:xfrm>
            <a:off x="45720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6C4D9"/>
                </a:solidFill>
              </a:rPr>
              <a:t>NEXT</a:t>
            </a:r>
            <a:endParaRPr lang="en-US" sz="1100" dirty="0"/>
          </a:p>
        </p:txBody>
      </p:sp>
      <p:pic>
        <p:nvPicPr>
          <p:cNvPr id="18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69080"/>
            <a:ext cx="219456" cy="219456"/>
          </a:xfrm>
          <a:prstGeom prst="rect">
            <a:avLst/>
          </a:prstGeom>
        </p:spPr>
      </p:pic>
      <p:sp>
        <p:nvSpPr>
          <p:cNvPr id="19" name="Next item 1"/>
          <p:cNvSpPr txBox="1"/>
          <p:nvPr/>
        </p:nvSpPr>
        <p:spPr>
          <a:xfrm>
            <a:off x="768096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Notifications when a status changes</a:t>
            </a:r>
            <a:endParaRPr lang="en-US" sz="1150" dirty="0"/>
          </a:p>
        </p:txBody>
      </p:sp>
      <p:pic>
        <p:nvPicPr>
          <p:cNvPr id="20" name="Image 5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069080"/>
            <a:ext cx="219456" cy="219456"/>
          </a:xfrm>
          <a:prstGeom prst="rect">
            <a:avLst/>
          </a:prstGeom>
        </p:spPr>
      </p:pic>
      <p:sp>
        <p:nvSpPr>
          <p:cNvPr id="21" name="Next item 2"/>
          <p:cNvSpPr txBox="1"/>
          <p:nvPr/>
        </p:nvSpPr>
        <p:spPr>
          <a:xfrm>
            <a:off x="3602736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A QR code per location for one-scan reporting</a:t>
            </a:r>
            <a:endParaRPr lang="en-US" sz="1150" dirty="0"/>
          </a:p>
        </p:txBody>
      </p:sp>
      <p:pic>
        <p:nvPicPr>
          <p:cNvPr id="22" name="Image 6" descr="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069080"/>
            <a:ext cx="219456" cy="219456"/>
          </a:xfrm>
          <a:prstGeom prst="rect">
            <a:avLst/>
          </a:prstGeom>
        </p:spPr>
      </p:pic>
      <p:sp>
        <p:nvSpPr>
          <p:cNvPr id="23" name="Next item 3"/>
          <p:cNvSpPr txBox="1"/>
          <p:nvPr/>
        </p:nvSpPr>
        <p:spPr>
          <a:xfrm>
            <a:off x="6437376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Maintenance trends and weekly reports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6C4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MyCampus">
  <a:themeElements>
    <a:clrScheme name="FixMyCampus">
      <a:dk1>
        <a:srgbClr val="0B1220"/>
      </a:dk1>
      <a:lt1>
        <a:srgbClr val="FFFFFF"/>
      </a:lt1>
      <a:dk2>
        <a:srgbClr val="17243B"/>
      </a:dk2>
      <a:lt2>
        <a:srgbClr val="EEF2F7"/>
      </a:lt2>
      <a:accent1>
        <a:srgbClr val="1D4ED8"/>
      </a:accent1>
      <a:accent2>
        <a:srgbClr val="0D9488"/>
      </a:accent2>
      <a:accent3>
        <a:srgbClr val="B45309"/>
      </a:accent3>
      <a:accent4>
        <a:srgbClr val="DC2626"/>
      </a:accent4>
      <a:accent5>
        <a:srgbClr val="15803D"/>
      </a:accent5>
      <a:accent6>
        <a:srgbClr val="475569"/>
      </a:accent6>
      <a:hlink>
        <a:srgbClr val="2563EB"/>
      </a:hlink>
      <a:folHlink>
        <a:srgbClr val="7C3AED"/>
      </a:folHlink>
    </a:clrScheme>
    <a:fontScheme name="FixMyCampu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FixMyCampus pitch</dc:title>
  <dc:subject>PptxGenJS Presentation</dc:subject>
  <dc:creator>FixMyCampus team</dc:creator>
  <cp:lastModifiedBy>FixMyCampus team</cp:lastModifiedBy>
  <cp:revision>1</cp:revision>
  <dcterms:created xsi:type="dcterms:W3CDTF">2026-10-02T19:42:31Z</dcterms:created>
  <dcterms:modified xsi:type="dcterms:W3CDTF">2026-10-02T19:42:31Z</dcterms:modified>
</cp:coreProperties>
</file>